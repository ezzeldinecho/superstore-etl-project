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0" r:id="rId3"/>
    <p:sldId id="277" r:id="rId4"/>
    <p:sldId id="289" r:id="rId5"/>
    <p:sldId id="290" r:id="rId6"/>
    <p:sldId id="265" r:id="rId7"/>
    <p:sldId id="283" r:id="rId8"/>
    <p:sldId id="284" r:id="rId9"/>
    <p:sldId id="285" r:id="rId10"/>
    <p:sldId id="286" r:id="rId11"/>
    <p:sldId id="287" r:id="rId12"/>
    <p:sldId id="267" r:id="rId13"/>
    <p:sldId id="282" r:id="rId14"/>
    <p:sldId id="278" r:id="rId15"/>
    <p:sldId id="264" r:id="rId16"/>
    <p:sldId id="281" r:id="rId17"/>
    <p:sldId id="280" r:id="rId18"/>
    <p:sldId id="279" r:id="rId19"/>
    <p:sldId id="288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5B70E7-8320-4F00-8C1F-A1619A0D980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1522CCC-42B1-4446-AF9F-23708DF76705}">
      <dgm:prSet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596E2A-C609-47EC-892C-29DD9F484844}" type="parTrans" cxnId="{FC9FBB07-5B90-4C06-B5E0-C1511D48C68E}">
      <dgm:prSet/>
      <dgm:spPr/>
      <dgm:t>
        <a:bodyPr/>
        <a:lstStyle/>
        <a:p>
          <a:endParaRPr lang="en-US"/>
        </a:p>
      </dgm:t>
    </dgm:pt>
    <dgm:pt modelId="{1D9A25F8-1943-4EA0-A498-5063DCF9292E}" type="sibTrans" cxnId="{FC9FBB07-5B90-4C06-B5E0-C1511D48C68E}">
      <dgm:prSet/>
      <dgm:spPr/>
      <dgm:t>
        <a:bodyPr/>
        <a:lstStyle/>
        <a:p>
          <a:endParaRPr lang="en-US"/>
        </a:p>
      </dgm:t>
    </dgm:pt>
    <dgm:pt modelId="{DC77AC03-6B56-4154-A67F-83D0A92439AC}">
      <dgm:prSet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2605F3-6EA5-4C42-9FC8-581FDC23D77F}" type="parTrans" cxnId="{A96134D9-B064-4F44-9A3A-31AB11585709}">
      <dgm:prSet/>
      <dgm:spPr/>
      <dgm:t>
        <a:bodyPr/>
        <a:lstStyle/>
        <a:p>
          <a:endParaRPr lang="en-US"/>
        </a:p>
      </dgm:t>
    </dgm:pt>
    <dgm:pt modelId="{9CA3224F-921C-418F-9E05-010FFB4CEEAF}" type="sibTrans" cxnId="{A96134D9-B064-4F44-9A3A-31AB11585709}">
      <dgm:prSet/>
      <dgm:spPr/>
      <dgm:t>
        <a:bodyPr/>
        <a:lstStyle/>
        <a:p>
          <a:endParaRPr lang="en-US"/>
        </a:p>
      </dgm:t>
    </dgm:pt>
    <dgm:pt modelId="{FB74A115-A5BF-4B44-8463-8728A11B440D}">
      <dgm:prSet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BC1842-3884-4469-97BF-433BF3D52C96}" type="parTrans" cxnId="{429D5DF6-7C79-4039-B1BB-EC940B3964DB}">
      <dgm:prSet/>
      <dgm:spPr/>
      <dgm:t>
        <a:bodyPr/>
        <a:lstStyle/>
        <a:p>
          <a:endParaRPr lang="en-US"/>
        </a:p>
      </dgm:t>
    </dgm:pt>
    <dgm:pt modelId="{13F8D7A1-EDE0-4B7D-8AED-94F88C7E33E0}" type="sibTrans" cxnId="{429D5DF6-7C79-4039-B1BB-EC940B3964DB}">
      <dgm:prSet/>
      <dgm:spPr/>
      <dgm:t>
        <a:bodyPr/>
        <a:lstStyle/>
        <a:p>
          <a:endParaRPr lang="en-US"/>
        </a:p>
      </dgm:t>
    </dgm:pt>
    <dgm:pt modelId="{41139FB9-3423-4574-B8F6-9ABC3ABB5F0E}">
      <dgm:prSet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742E8F-1905-42A2-8A4D-E309DE4C88F4}" type="parTrans" cxnId="{BDD99DA8-9214-46A4-8478-2388409BFD5B}">
      <dgm:prSet/>
      <dgm:spPr/>
      <dgm:t>
        <a:bodyPr/>
        <a:lstStyle/>
        <a:p>
          <a:endParaRPr lang="en-US"/>
        </a:p>
      </dgm:t>
    </dgm:pt>
    <dgm:pt modelId="{6141BF52-427E-4D06-ACF1-0414FD8A91AB}" type="sibTrans" cxnId="{BDD99DA8-9214-46A4-8478-2388409BFD5B}">
      <dgm:prSet/>
      <dgm:spPr/>
      <dgm:t>
        <a:bodyPr/>
        <a:lstStyle/>
        <a:p>
          <a:endParaRPr lang="en-US"/>
        </a:p>
      </dgm:t>
    </dgm:pt>
    <dgm:pt modelId="{92C5C041-8FE6-47C9-A55C-2F00F0DCE93C}" type="pres">
      <dgm:prSet presAssocID="{855B70E7-8320-4F00-8C1F-A1619A0D9803}" presName="root" presStyleCnt="0">
        <dgm:presLayoutVars>
          <dgm:dir/>
          <dgm:resizeHandles val="exact"/>
        </dgm:presLayoutVars>
      </dgm:prSet>
      <dgm:spPr/>
    </dgm:pt>
    <dgm:pt modelId="{072F26B3-9AFB-4FFB-B5D5-6176470EC06B}" type="pres">
      <dgm:prSet presAssocID="{01522CCC-42B1-4446-AF9F-23708DF76705}" presName="compNode" presStyleCnt="0"/>
      <dgm:spPr/>
    </dgm:pt>
    <dgm:pt modelId="{98E8AE55-DFF8-40F3-9DAE-7C82DC999037}" type="pres">
      <dgm:prSet presAssocID="{01522CCC-42B1-4446-AF9F-23708DF76705}" presName="bgRect" presStyleLbl="bgShp" presStyleIdx="0" presStyleCnt="4"/>
      <dgm:spPr/>
    </dgm:pt>
    <dgm:pt modelId="{9BBBED77-9C82-467F-B4A2-859BE1C97E92}" type="pres">
      <dgm:prSet presAssocID="{01522CCC-42B1-4446-AF9F-23708DF7670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FC545C2-4972-4877-9EFB-F5519E6A1424}" type="pres">
      <dgm:prSet presAssocID="{01522CCC-42B1-4446-AF9F-23708DF76705}" presName="spaceRect" presStyleCnt="0"/>
      <dgm:spPr/>
    </dgm:pt>
    <dgm:pt modelId="{CCA95C39-A6CB-497D-A94E-B85F4924C8FF}" type="pres">
      <dgm:prSet presAssocID="{01522CCC-42B1-4446-AF9F-23708DF76705}" presName="parTx" presStyleLbl="revTx" presStyleIdx="0" presStyleCnt="4">
        <dgm:presLayoutVars>
          <dgm:chMax val="0"/>
          <dgm:chPref val="0"/>
        </dgm:presLayoutVars>
      </dgm:prSet>
      <dgm:spPr/>
    </dgm:pt>
    <dgm:pt modelId="{58CBB122-4C39-4DE8-9945-7DAE2CE41B04}" type="pres">
      <dgm:prSet presAssocID="{1D9A25F8-1943-4EA0-A498-5063DCF9292E}" presName="sibTrans" presStyleCnt="0"/>
      <dgm:spPr/>
    </dgm:pt>
    <dgm:pt modelId="{D2EEF18C-6E7D-4C97-9115-4C0887614092}" type="pres">
      <dgm:prSet presAssocID="{DC77AC03-6B56-4154-A67F-83D0A92439AC}" presName="compNode" presStyleCnt="0"/>
      <dgm:spPr/>
    </dgm:pt>
    <dgm:pt modelId="{978ECE2D-1C1D-49ED-A157-F4ECF01233E2}" type="pres">
      <dgm:prSet presAssocID="{DC77AC03-6B56-4154-A67F-83D0A92439AC}" presName="bgRect" presStyleLbl="bgShp" presStyleIdx="1" presStyleCnt="4"/>
      <dgm:spPr/>
    </dgm:pt>
    <dgm:pt modelId="{EEDA8F42-BD02-4EEE-AEC3-30E073631728}" type="pres">
      <dgm:prSet presAssocID="{DC77AC03-6B56-4154-A67F-83D0A92439A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C1252B19-FA7A-4A80-8C2D-EC67526EF81D}" type="pres">
      <dgm:prSet presAssocID="{DC77AC03-6B56-4154-A67F-83D0A92439AC}" presName="spaceRect" presStyleCnt="0"/>
      <dgm:spPr/>
    </dgm:pt>
    <dgm:pt modelId="{0BF1022F-F00B-4DCD-AB44-B58C1981C00A}" type="pres">
      <dgm:prSet presAssocID="{DC77AC03-6B56-4154-A67F-83D0A92439AC}" presName="parTx" presStyleLbl="revTx" presStyleIdx="1" presStyleCnt="4">
        <dgm:presLayoutVars>
          <dgm:chMax val="0"/>
          <dgm:chPref val="0"/>
        </dgm:presLayoutVars>
      </dgm:prSet>
      <dgm:spPr/>
    </dgm:pt>
    <dgm:pt modelId="{3AA3ECD0-E786-4FF1-9B42-89AA757795E3}" type="pres">
      <dgm:prSet presAssocID="{9CA3224F-921C-418F-9E05-010FFB4CEEAF}" presName="sibTrans" presStyleCnt="0"/>
      <dgm:spPr/>
    </dgm:pt>
    <dgm:pt modelId="{C2176F24-70C2-4CF2-995C-7224BD1C8021}" type="pres">
      <dgm:prSet presAssocID="{FB74A115-A5BF-4B44-8463-8728A11B440D}" presName="compNode" presStyleCnt="0"/>
      <dgm:spPr/>
    </dgm:pt>
    <dgm:pt modelId="{B6E65F81-C403-4AC3-8635-9A5435106997}" type="pres">
      <dgm:prSet presAssocID="{FB74A115-A5BF-4B44-8463-8728A11B440D}" presName="bgRect" presStyleLbl="bgShp" presStyleIdx="2" presStyleCnt="4"/>
      <dgm:spPr/>
    </dgm:pt>
    <dgm:pt modelId="{7F11AA65-4DC4-4528-A11A-CCAA929BED83}" type="pres">
      <dgm:prSet presAssocID="{FB74A115-A5BF-4B44-8463-8728A11B440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88482B6D-E088-4E8A-B568-549EF843400B}" type="pres">
      <dgm:prSet presAssocID="{FB74A115-A5BF-4B44-8463-8728A11B440D}" presName="spaceRect" presStyleCnt="0"/>
      <dgm:spPr/>
    </dgm:pt>
    <dgm:pt modelId="{A3011B32-3F0F-407B-AF45-7BA3B3FA52A1}" type="pres">
      <dgm:prSet presAssocID="{FB74A115-A5BF-4B44-8463-8728A11B440D}" presName="parTx" presStyleLbl="revTx" presStyleIdx="2" presStyleCnt="4">
        <dgm:presLayoutVars>
          <dgm:chMax val="0"/>
          <dgm:chPref val="0"/>
        </dgm:presLayoutVars>
      </dgm:prSet>
      <dgm:spPr/>
    </dgm:pt>
    <dgm:pt modelId="{F8B099AF-5171-49FF-BE25-16360F39FEB2}" type="pres">
      <dgm:prSet presAssocID="{13F8D7A1-EDE0-4B7D-8AED-94F88C7E33E0}" presName="sibTrans" presStyleCnt="0"/>
      <dgm:spPr/>
    </dgm:pt>
    <dgm:pt modelId="{16D73A9E-73D2-493E-B173-1D5924475DC9}" type="pres">
      <dgm:prSet presAssocID="{41139FB9-3423-4574-B8F6-9ABC3ABB5F0E}" presName="compNode" presStyleCnt="0"/>
      <dgm:spPr/>
    </dgm:pt>
    <dgm:pt modelId="{98A6D84E-2B54-4B58-B43C-D03BC7EF2647}" type="pres">
      <dgm:prSet presAssocID="{41139FB9-3423-4574-B8F6-9ABC3ABB5F0E}" presName="bgRect" presStyleLbl="bgShp" presStyleIdx="3" presStyleCnt="4"/>
      <dgm:spPr/>
    </dgm:pt>
    <dgm:pt modelId="{DE5275E4-C169-4515-9BBC-77E847329BF7}" type="pres">
      <dgm:prSet presAssocID="{41139FB9-3423-4574-B8F6-9ABC3ABB5F0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31A342F-E8A3-4BA9-851D-599124BFFEF1}" type="pres">
      <dgm:prSet presAssocID="{41139FB9-3423-4574-B8F6-9ABC3ABB5F0E}" presName="spaceRect" presStyleCnt="0"/>
      <dgm:spPr/>
    </dgm:pt>
    <dgm:pt modelId="{C8C7DA1A-21BB-47BF-89B8-BAF26FC17453}" type="pres">
      <dgm:prSet presAssocID="{41139FB9-3423-4574-B8F6-9ABC3ABB5F0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20A0D03-94BE-4E42-B07D-C6261BF93977}" type="presOf" srcId="{DC77AC03-6B56-4154-A67F-83D0A92439AC}" destId="{0BF1022F-F00B-4DCD-AB44-B58C1981C00A}" srcOrd="0" destOrd="0" presId="urn:microsoft.com/office/officeart/2018/2/layout/IconVerticalSolidList"/>
    <dgm:cxn modelId="{FC9FBB07-5B90-4C06-B5E0-C1511D48C68E}" srcId="{855B70E7-8320-4F00-8C1F-A1619A0D9803}" destId="{01522CCC-42B1-4446-AF9F-23708DF76705}" srcOrd="0" destOrd="0" parTransId="{55596E2A-C609-47EC-892C-29DD9F484844}" sibTransId="{1D9A25F8-1943-4EA0-A498-5063DCF9292E}"/>
    <dgm:cxn modelId="{C4311D23-7E5B-48AA-8847-F29A45D53481}" type="presOf" srcId="{855B70E7-8320-4F00-8C1F-A1619A0D9803}" destId="{92C5C041-8FE6-47C9-A55C-2F00F0DCE93C}" srcOrd="0" destOrd="0" presId="urn:microsoft.com/office/officeart/2018/2/layout/IconVerticalSolidList"/>
    <dgm:cxn modelId="{80B00C62-DD39-4DEF-B55A-C9B6467133A7}" type="presOf" srcId="{01522CCC-42B1-4446-AF9F-23708DF76705}" destId="{CCA95C39-A6CB-497D-A94E-B85F4924C8FF}" srcOrd="0" destOrd="0" presId="urn:microsoft.com/office/officeart/2018/2/layout/IconVerticalSolidList"/>
    <dgm:cxn modelId="{6CAC4064-7722-4CFA-9A7B-1D2BA0C601E6}" type="presOf" srcId="{41139FB9-3423-4574-B8F6-9ABC3ABB5F0E}" destId="{C8C7DA1A-21BB-47BF-89B8-BAF26FC17453}" srcOrd="0" destOrd="0" presId="urn:microsoft.com/office/officeart/2018/2/layout/IconVerticalSolidList"/>
    <dgm:cxn modelId="{5C19569E-53CB-4BBE-8B46-B894035C721F}" type="presOf" srcId="{FB74A115-A5BF-4B44-8463-8728A11B440D}" destId="{A3011B32-3F0F-407B-AF45-7BA3B3FA52A1}" srcOrd="0" destOrd="0" presId="urn:microsoft.com/office/officeart/2018/2/layout/IconVerticalSolidList"/>
    <dgm:cxn modelId="{BDD99DA8-9214-46A4-8478-2388409BFD5B}" srcId="{855B70E7-8320-4F00-8C1F-A1619A0D9803}" destId="{41139FB9-3423-4574-B8F6-9ABC3ABB5F0E}" srcOrd="3" destOrd="0" parTransId="{3C742E8F-1905-42A2-8A4D-E309DE4C88F4}" sibTransId="{6141BF52-427E-4D06-ACF1-0414FD8A91AB}"/>
    <dgm:cxn modelId="{A96134D9-B064-4F44-9A3A-31AB11585709}" srcId="{855B70E7-8320-4F00-8C1F-A1619A0D9803}" destId="{DC77AC03-6B56-4154-A67F-83D0A92439AC}" srcOrd="1" destOrd="0" parTransId="{B02605F3-6EA5-4C42-9FC8-581FDC23D77F}" sibTransId="{9CA3224F-921C-418F-9E05-010FFB4CEEAF}"/>
    <dgm:cxn modelId="{429D5DF6-7C79-4039-B1BB-EC940B3964DB}" srcId="{855B70E7-8320-4F00-8C1F-A1619A0D9803}" destId="{FB74A115-A5BF-4B44-8463-8728A11B440D}" srcOrd="2" destOrd="0" parTransId="{7BBC1842-3884-4469-97BF-433BF3D52C96}" sibTransId="{13F8D7A1-EDE0-4B7D-8AED-94F88C7E33E0}"/>
    <dgm:cxn modelId="{94C54C18-A3D2-414E-A97E-21C316AC66FD}" type="presParOf" srcId="{92C5C041-8FE6-47C9-A55C-2F00F0DCE93C}" destId="{072F26B3-9AFB-4FFB-B5D5-6176470EC06B}" srcOrd="0" destOrd="0" presId="urn:microsoft.com/office/officeart/2018/2/layout/IconVerticalSolidList"/>
    <dgm:cxn modelId="{D481EC07-BAA3-4661-AC41-614C7D3FF192}" type="presParOf" srcId="{072F26B3-9AFB-4FFB-B5D5-6176470EC06B}" destId="{98E8AE55-DFF8-40F3-9DAE-7C82DC999037}" srcOrd="0" destOrd="0" presId="urn:microsoft.com/office/officeart/2018/2/layout/IconVerticalSolidList"/>
    <dgm:cxn modelId="{EE430C42-4A28-4572-86E2-DA5ED4C2B806}" type="presParOf" srcId="{072F26B3-9AFB-4FFB-B5D5-6176470EC06B}" destId="{9BBBED77-9C82-467F-B4A2-859BE1C97E92}" srcOrd="1" destOrd="0" presId="urn:microsoft.com/office/officeart/2018/2/layout/IconVerticalSolidList"/>
    <dgm:cxn modelId="{AC0B5BA9-67FA-4EAD-B020-216649293E17}" type="presParOf" srcId="{072F26B3-9AFB-4FFB-B5D5-6176470EC06B}" destId="{EFC545C2-4972-4877-9EFB-F5519E6A1424}" srcOrd="2" destOrd="0" presId="urn:microsoft.com/office/officeart/2018/2/layout/IconVerticalSolidList"/>
    <dgm:cxn modelId="{76C0AFE0-1561-447B-AE97-D8EBAF773EA8}" type="presParOf" srcId="{072F26B3-9AFB-4FFB-B5D5-6176470EC06B}" destId="{CCA95C39-A6CB-497D-A94E-B85F4924C8FF}" srcOrd="3" destOrd="0" presId="urn:microsoft.com/office/officeart/2018/2/layout/IconVerticalSolidList"/>
    <dgm:cxn modelId="{4B590781-01F1-4640-B7C1-BDA1EB6D1300}" type="presParOf" srcId="{92C5C041-8FE6-47C9-A55C-2F00F0DCE93C}" destId="{58CBB122-4C39-4DE8-9945-7DAE2CE41B04}" srcOrd="1" destOrd="0" presId="urn:microsoft.com/office/officeart/2018/2/layout/IconVerticalSolidList"/>
    <dgm:cxn modelId="{4E004A43-A223-49D3-B0E1-3371BE469040}" type="presParOf" srcId="{92C5C041-8FE6-47C9-A55C-2F00F0DCE93C}" destId="{D2EEF18C-6E7D-4C97-9115-4C0887614092}" srcOrd="2" destOrd="0" presId="urn:microsoft.com/office/officeart/2018/2/layout/IconVerticalSolidList"/>
    <dgm:cxn modelId="{5A803720-3C3A-4CA7-9A56-183750B0EC6E}" type="presParOf" srcId="{D2EEF18C-6E7D-4C97-9115-4C0887614092}" destId="{978ECE2D-1C1D-49ED-A157-F4ECF01233E2}" srcOrd="0" destOrd="0" presId="urn:microsoft.com/office/officeart/2018/2/layout/IconVerticalSolidList"/>
    <dgm:cxn modelId="{422FA0C4-FBD7-4332-A7F0-01F75C72ACAE}" type="presParOf" srcId="{D2EEF18C-6E7D-4C97-9115-4C0887614092}" destId="{EEDA8F42-BD02-4EEE-AEC3-30E073631728}" srcOrd="1" destOrd="0" presId="urn:microsoft.com/office/officeart/2018/2/layout/IconVerticalSolidList"/>
    <dgm:cxn modelId="{8B013567-F82B-4EA3-81F0-03B83579F886}" type="presParOf" srcId="{D2EEF18C-6E7D-4C97-9115-4C0887614092}" destId="{C1252B19-FA7A-4A80-8C2D-EC67526EF81D}" srcOrd="2" destOrd="0" presId="urn:microsoft.com/office/officeart/2018/2/layout/IconVerticalSolidList"/>
    <dgm:cxn modelId="{F9C3FD3E-7320-4C35-AA5D-B3127F00F44D}" type="presParOf" srcId="{D2EEF18C-6E7D-4C97-9115-4C0887614092}" destId="{0BF1022F-F00B-4DCD-AB44-B58C1981C00A}" srcOrd="3" destOrd="0" presId="urn:microsoft.com/office/officeart/2018/2/layout/IconVerticalSolidList"/>
    <dgm:cxn modelId="{86822C33-33CE-43A3-BE4D-3C67243FE95A}" type="presParOf" srcId="{92C5C041-8FE6-47C9-A55C-2F00F0DCE93C}" destId="{3AA3ECD0-E786-4FF1-9B42-89AA757795E3}" srcOrd="3" destOrd="0" presId="urn:microsoft.com/office/officeart/2018/2/layout/IconVerticalSolidList"/>
    <dgm:cxn modelId="{E55F882A-7D33-4837-A4BA-D995CF9BCDBA}" type="presParOf" srcId="{92C5C041-8FE6-47C9-A55C-2F00F0DCE93C}" destId="{C2176F24-70C2-4CF2-995C-7224BD1C8021}" srcOrd="4" destOrd="0" presId="urn:microsoft.com/office/officeart/2018/2/layout/IconVerticalSolidList"/>
    <dgm:cxn modelId="{8F13C008-4ED4-4BBB-A546-5C2B6615C29B}" type="presParOf" srcId="{C2176F24-70C2-4CF2-995C-7224BD1C8021}" destId="{B6E65F81-C403-4AC3-8635-9A5435106997}" srcOrd="0" destOrd="0" presId="urn:microsoft.com/office/officeart/2018/2/layout/IconVerticalSolidList"/>
    <dgm:cxn modelId="{5F9E573D-8DE4-4643-9A55-01525F607DAE}" type="presParOf" srcId="{C2176F24-70C2-4CF2-995C-7224BD1C8021}" destId="{7F11AA65-4DC4-4528-A11A-CCAA929BED83}" srcOrd="1" destOrd="0" presId="urn:microsoft.com/office/officeart/2018/2/layout/IconVerticalSolidList"/>
    <dgm:cxn modelId="{F9A4CB5F-7337-45D3-8325-A0956C0CAD3E}" type="presParOf" srcId="{C2176F24-70C2-4CF2-995C-7224BD1C8021}" destId="{88482B6D-E088-4E8A-B568-549EF843400B}" srcOrd="2" destOrd="0" presId="urn:microsoft.com/office/officeart/2018/2/layout/IconVerticalSolidList"/>
    <dgm:cxn modelId="{3CEAEAC3-EE1B-430E-9196-EA730B2902CB}" type="presParOf" srcId="{C2176F24-70C2-4CF2-995C-7224BD1C8021}" destId="{A3011B32-3F0F-407B-AF45-7BA3B3FA52A1}" srcOrd="3" destOrd="0" presId="urn:microsoft.com/office/officeart/2018/2/layout/IconVerticalSolidList"/>
    <dgm:cxn modelId="{0D00BD66-2FD6-4A42-BF8D-1737F4776C53}" type="presParOf" srcId="{92C5C041-8FE6-47C9-A55C-2F00F0DCE93C}" destId="{F8B099AF-5171-49FF-BE25-16360F39FEB2}" srcOrd="5" destOrd="0" presId="urn:microsoft.com/office/officeart/2018/2/layout/IconVerticalSolidList"/>
    <dgm:cxn modelId="{DB671335-E0A7-495E-8A7E-2E273A91AD8F}" type="presParOf" srcId="{92C5C041-8FE6-47C9-A55C-2F00F0DCE93C}" destId="{16D73A9E-73D2-493E-B173-1D5924475DC9}" srcOrd="6" destOrd="0" presId="urn:microsoft.com/office/officeart/2018/2/layout/IconVerticalSolidList"/>
    <dgm:cxn modelId="{1FEC85DC-2133-4FE1-AD57-C8837C17AFEF}" type="presParOf" srcId="{16D73A9E-73D2-493E-B173-1D5924475DC9}" destId="{98A6D84E-2B54-4B58-B43C-D03BC7EF2647}" srcOrd="0" destOrd="0" presId="urn:microsoft.com/office/officeart/2018/2/layout/IconVerticalSolidList"/>
    <dgm:cxn modelId="{909ECB83-B61D-41E4-B22E-E6AC934561D6}" type="presParOf" srcId="{16D73A9E-73D2-493E-B173-1D5924475DC9}" destId="{DE5275E4-C169-4515-9BBC-77E847329BF7}" srcOrd="1" destOrd="0" presId="urn:microsoft.com/office/officeart/2018/2/layout/IconVerticalSolidList"/>
    <dgm:cxn modelId="{5CF586A1-CB6C-44F8-8E60-684A1794190F}" type="presParOf" srcId="{16D73A9E-73D2-493E-B173-1D5924475DC9}" destId="{D31A342F-E8A3-4BA9-851D-599124BFFEF1}" srcOrd="2" destOrd="0" presId="urn:microsoft.com/office/officeart/2018/2/layout/IconVerticalSolidList"/>
    <dgm:cxn modelId="{ABB79CC6-A4FD-4B10-8EF5-C727330FBF30}" type="presParOf" srcId="{16D73A9E-73D2-493E-B173-1D5924475DC9}" destId="{C8C7DA1A-21BB-47BF-89B8-BAF26FC1745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8AE55-DFF8-40F3-9DAE-7C82DC999037}">
      <dsp:nvSpPr>
        <dsp:cNvPr id="0" name=""/>
        <dsp:cNvSpPr/>
      </dsp:nvSpPr>
      <dsp:spPr>
        <a:xfrm>
          <a:off x="0" y="2125"/>
          <a:ext cx="6582555" cy="1077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BBED77-9C82-467F-B4A2-859BE1C97E92}">
      <dsp:nvSpPr>
        <dsp:cNvPr id="0" name=""/>
        <dsp:cNvSpPr/>
      </dsp:nvSpPr>
      <dsp:spPr>
        <a:xfrm>
          <a:off x="325906" y="244535"/>
          <a:ext cx="592558" cy="5925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95C39-A6CB-497D-A94E-B85F4924C8FF}">
      <dsp:nvSpPr>
        <dsp:cNvPr id="0" name=""/>
        <dsp:cNvSpPr/>
      </dsp:nvSpPr>
      <dsp:spPr>
        <a:xfrm>
          <a:off x="1244371" y="2125"/>
          <a:ext cx="5338183" cy="1077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23" tIns="114023" rIns="114023" bIns="1140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44371" y="2125"/>
        <a:ext cx="5338183" cy="1077378"/>
      </dsp:txXfrm>
    </dsp:sp>
    <dsp:sp modelId="{978ECE2D-1C1D-49ED-A157-F4ECF01233E2}">
      <dsp:nvSpPr>
        <dsp:cNvPr id="0" name=""/>
        <dsp:cNvSpPr/>
      </dsp:nvSpPr>
      <dsp:spPr>
        <a:xfrm>
          <a:off x="0" y="1348848"/>
          <a:ext cx="6582555" cy="1077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DA8F42-BD02-4EEE-AEC3-30E073631728}">
      <dsp:nvSpPr>
        <dsp:cNvPr id="0" name=""/>
        <dsp:cNvSpPr/>
      </dsp:nvSpPr>
      <dsp:spPr>
        <a:xfrm>
          <a:off x="325906" y="1591258"/>
          <a:ext cx="592558" cy="5925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1022F-F00B-4DCD-AB44-B58C1981C00A}">
      <dsp:nvSpPr>
        <dsp:cNvPr id="0" name=""/>
        <dsp:cNvSpPr/>
      </dsp:nvSpPr>
      <dsp:spPr>
        <a:xfrm>
          <a:off x="1244371" y="1348848"/>
          <a:ext cx="5338183" cy="1077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23" tIns="114023" rIns="114023" bIns="1140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44371" y="1348848"/>
        <a:ext cx="5338183" cy="1077378"/>
      </dsp:txXfrm>
    </dsp:sp>
    <dsp:sp modelId="{B6E65F81-C403-4AC3-8635-9A5435106997}">
      <dsp:nvSpPr>
        <dsp:cNvPr id="0" name=""/>
        <dsp:cNvSpPr/>
      </dsp:nvSpPr>
      <dsp:spPr>
        <a:xfrm>
          <a:off x="0" y="2695571"/>
          <a:ext cx="6582555" cy="1077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11AA65-4DC4-4528-A11A-CCAA929BED83}">
      <dsp:nvSpPr>
        <dsp:cNvPr id="0" name=""/>
        <dsp:cNvSpPr/>
      </dsp:nvSpPr>
      <dsp:spPr>
        <a:xfrm>
          <a:off x="325906" y="2937981"/>
          <a:ext cx="592558" cy="5925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11B32-3F0F-407B-AF45-7BA3B3FA52A1}">
      <dsp:nvSpPr>
        <dsp:cNvPr id="0" name=""/>
        <dsp:cNvSpPr/>
      </dsp:nvSpPr>
      <dsp:spPr>
        <a:xfrm>
          <a:off x="1244371" y="2695571"/>
          <a:ext cx="5338183" cy="1077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23" tIns="114023" rIns="114023" bIns="1140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44371" y="2695571"/>
        <a:ext cx="5338183" cy="1077378"/>
      </dsp:txXfrm>
    </dsp:sp>
    <dsp:sp modelId="{98A6D84E-2B54-4B58-B43C-D03BC7EF2647}">
      <dsp:nvSpPr>
        <dsp:cNvPr id="0" name=""/>
        <dsp:cNvSpPr/>
      </dsp:nvSpPr>
      <dsp:spPr>
        <a:xfrm>
          <a:off x="0" y="4042294"/>
          <a:ext cx="6582555" cy="1077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275E4-C169-4515-9BBC-77E847329BF7}">
      <dsp:nvSpPr>
        <dsp:cNvPr id="0" name=""/>
        <dsp:cNvSpPr/>
      </dsp:nvSpPr>
      <dsp:spPr>
        <a:xfrm>
          <a:off x="325906" y="4284704"/>
          <a:ext cx="592558" cy="5925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7DA1A-21BB-47BF-89B8-BAF26FC17453}">
      <dsp:nvSpPr>
        <dsp:cNvPr id="0" name=""/>
        <dsp:cNvSpPr/>
      </dsp:nvSpPr>
      <dsp:spPr>
        <a:xfrm>
          <a:off x="1244371" y="4042294"/>
          <a:ext cx="5338183" cy="1077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23" tIns="114023" rIns="114023" bIns="1140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44371" y="4042294"/>
        <a:ext cx="5338183" cy="1077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36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85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94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275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35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087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206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71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48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396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39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75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02873B2E-114E-9144-F3CB-18124290B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773"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EFC1EB0-DB92-4E98-B3A9-0CD6FA5A8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8326" y="-341385"/>
            <a:ext cx="6858003" cy="754075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5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7A04C9-8BC2-A2DA-6F45-9947E3B9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4277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Super Store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FD94D-3656-85C9-D899-A7BBCECCA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609" y="4608575"/>
            <a:ext cx="4224667" cy="1684067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By: 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arenR"/>
            </a:pPr>
            <a:r>
              <a:rPr lang="en-US" sz="2000" dirty="0">
                <a:solidFill>
                  <a:schemeClr val="bg1"/>
                </a:solidFill>
              </a:rPr>
              <a:t>Ezz Eldin Mahmoud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arenR"/>
            </a:pPr>
            <a:r>
              <a:rPr lang="en-US" sz="2000" dirty="0">
                <a:solidFill>
                  <a:schemeClr val="bg1"/>
                </a:solidFill>
              </a:rPr>
              <a:t>Ayman Sayed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950" y="4508519"/>
            <a:ext cx="310896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81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1AE598-6007-8D1C-335D-499767D0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166A56-BD32-8999-E9CE-54B31BCCFE3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3686" y="516836"/>
            <a:ext cx="3448259" cy="15086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Agenda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31BC97EE-A87E-208D-89A2-8B2D7230BF2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45806" y="2546225"/>
            <a:ext cx="4139381" cy="4182722"/>
          </a:xfrm>
        </p:spPr>
        <p:txBody>
          <a:bodyPr vert="horz" lIns="0" tIns="45720" rIns="0" bIns="45720" rtlCol="0"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arenR"/>
            </a:pPr>
            <a:r>
              <a:rPr lang="en-US" sz="2800" dirty="0">
                <a:solidFill>
                  <a:srgbClr val="FFFFFF"/>
                </a:solidFill>
              </a:rPr>
              <a:t>Introduction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arenR"/>
            </a:pPr>
            <a:r>
              <a:rPr lang="en-US" sz="2800" dirty="0"/>
              <a:t>Data Cleaning Process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arenR"/>
            </a:pPr>
            <a:r>
              <a:rPr lang="en-US" sz="2800" dirty="0"/>
              <a:t>Dashboard-Based Scenarios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arenR"/>
            </a:pPr>
            <a:r>
              <a:rPr lang="en-US" sz="2800" dirty="0"/>
              <a:t>Recommendations &amp; Next Steps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arenR"/>
            </a:pPr>
            <a:endParaRPr lang="en-US" sz="2400" dirty="0"/>
          </a:p>
          <a:p>
            <a:pPr marL="342900" indent="-342900">
              <a:lnSpc>
                <a:spcPct val="100000"/>
              </a:lnSpc>
              <a:buFont typeface="+mj-lt"/>
              <a:buAutoNum type="arabicParenR"/>
            </a:pP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0A7BFF95-AE05-4745-B512-A44A3F77B3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458" b="-1"/>
          <a:stretch>
            <a:fillRect/>
          </a:stretch>
        </p:blipFill>
        <p:spPr>
          <a:xfrm>
            <a:off x="4654296" y="10"/>
            <a:ext cx="753770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49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BA55D-6D30-B86A-EC4B-CFE926293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27C2-32D2-A634-9256-ADAA3D65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160" y="286603"/>
            <a:ext cx="8058519" cy="145075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1)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7C93-5E4E-BBCB-2930-47A161CC1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7160" y="1936955"/>
            <a:ext cx="9094840" cy="4634442"/>
          </a:xfrm>
        </p:spPr>
        <p:txBody>
          <a:bodyPr>
            <a:noAutofit/>
          </a:bodyPr>
          <a:lstStyle/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</a:rPr>
              <a:t>Contains detailed order records from a retail Superstore from </a:t>
            </a:r>
            <a:r>
              <a:rPr lang="en-US" sz="2400" b="1" dirty="0">
                <a:solidFill>
                  <a:srgbClr val="00B050"/>
                </a:solidFill>
              </a:rPr>
              <a:t>2014</a:t>
            </a:r>
            <a:r>
              <a:rPr lang="en-US" sz="2400" b="1" dirty="0">
                <a:solidFill>
                  <a:schemeClr val="tx1"/>
                </a:solidFill>
              </a:rPr>
              <a:t> to </a:t>
            </a:r>
            <a:r>
              <a:rPr lang="en-US" sz="2400" b="1" dirty="0">
                <a:solidFill>
                  <a:srgbClr val="00B050"/>
                </a:solidFill>
              </a:rPr>
              <a:t>2017</a:t>
            </a:r>
            <a:r>
              <a:rPr lang="en-US" sz="2400" b="1" dirty="0">
                <a:solidFill>
                  <a:schemeClr val="tx1"/>
                </a:solidFill>
              </a:rPr>
              <a:t> (about </a:t>
            </a:r>
            <a:r>
              <a:rPr lang="en-US" sz="2400" b="1" dirty="0">
                <a:solidFill>
                  <a:srgbClr val="00B050"/>
                </a:solidFill>
              </a:rPr>
              <a:t>10,000</a:t>
            </a:r>
            <a:r>
              <a:rPr lang="en-US" sz="2400" b="1" dirty="0">
                <a:solidFill>
                  <a:schemeClr val="tx1"/>
                </a:solidFill>
              </a:rPr>
              <a:t> record).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/>
                </a:solidFill>
              </a:rPr>
              <a:t>Includes data on:</a:t>
            </a:r>
          </a:p>
          <a:p>
            <a:pPr marL="646938" lvl="2" indent="-1714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00B050"/>
                </a:solidFill>
              </a:rPr>
              <a:t>Sales</a:t>
            </a:r>
            <a:r>
              <a:rPr lang="en-US" sz="1800" b="1" dirty="0">
                <a:solidFill>
                  <a:schemeClr val="tx1"/>
                </a:solidFill>
              </a:rPr>
              <a:t> – revenue from products sold</a:t>
            </a:r>
          </a:p>
          <a:p>
            <a:pPr marL="646938" lvl="2" indent="-1714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00B050"/>
                </a:solidFill>
              </a:rPr>
              <a:t>Profit</a:t>
            </a:r>
            <a:r>
              <a:rPr lang="en-US" sz="1800" b="1" dirty="0">
                <a:solidFill>
                  <a:schemeClr val="tx1"/>
                </a:solidFill>
              </a:rPr>
              <a:t> – financial outcome of each order</a:t>
            </a:r>
          </a:p>
          <a:p>
            <a:pPr marL="646938" lvl="2" indent="-1714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00B050"/>
                </a:solidFill>
              </a:rPr>
              <a:t>Customers</a:t>
            </a:r>
            <a:r>
              <a:rPr lang="en-US" sz="1800" b="1" dirty="0">
                <a:solidFill>
                  <a:schemeClr val="tx1"/>
                </a:solidFill>
              </a:rPr>
              <a:t> – who bought the products</a:t>
            </a:r>
          </a:p>
          <a:p>
            <a:pPr marL="646938" lvl="2" indent="-1714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00B050"/>
                </a:solidFill>
              </a:rPr>
              <a:t>Products</a:t>
            </a:r>
            <a:r>
              <a:rPr lang="en-US" sz="1800" b="1" dirty="0">
                <a:solidFill>
                  <a:schemeClr val="tx1"/>
                </a:solidFill>
              </a:rPr>
              <a:t> – category, subcategory, and item details</a:t>
            </a:r>
          </a:p>
          <a:p>
            <a:pPr marL="646938" lvl="2" indent="-1714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00B050"/>
                </a:solidFill>
              </a:rPr>
              <a:t>Locations</a:t>
            </a:r>
            <a:r>
              <a:rPr lang="en-US" sz="1800" b="1" dirty="0">
                <a:solidFill>
                  <a:schemeClr val="tx1"/>
                </a:solidFill>
              </a:rPr>
              <a:t> – city, state, region for shipping</a:t>
            </a:r>
          </a:p>
          <a:p>
            <a:pPr marL="646938" lvl="2" indent="-1714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00B050"/>
                </a:solidFill>
              </a:rPr>
              <a:t>Shipping</a:t>
            </a:r>
            <a:r>
              <a:rPr lang="en-US" sz="1800" b="1" dirty="0">
                <a:solidFill>
                  <a:schemeClr val="tx1"/>
                </a:solidFill>
              </a:rPr>
              <a:t> – mode and delivery details</a:t>
            </a:r>
          </a:p>
          <a:p>
            <a:pPr marL="646938" lvl="2" indent="-171450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rgbClr val="00B050"/>
                </a:solidFill>
              </a:rPr>
              <a:t>Discounts</a:t>
            </a:r>
            <a:r>
              <a:rPr lang="en-US" sz="1800" b="1" dirty="0">
                <a:solidFill>
                  <a:schemeClr val="tx1"/>
                </a:solidFill>
              </a:rPr>
              <a:t> – applied discounts and their effect on profitability</a:t>
            </a: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E43D3D0D-C718-BF21-28C1-064D485DF5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97" r="61370" b="-2"/>
          <a:stretch>
            <a:fillRect/>
          </a:stretch>
        </p:blipFill>
        <p:spPr>
          <a:xfrm>
            <a:off x="0" y="0"/>
            <a:ext cx="301663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452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83E11-2148-06F9-B025-CA1F690C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A0D7-0F5A-6782-B5E1-269D5B65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7160" y="286603"/>
            <a:ext cx="8058519" cy="145075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1)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8C8BB-5D3D-AE01-B26D-D4A079F9B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7160" y="1936955"/>
            <a:ext cx="8947356" cy="4634442"/>
          </a:xfrm>
        </p:spPr>
        <p:txBody>
          <a:bodyPr>
            <a:noAutofit/>
          </a:bodyPr>
          <a:lstStyle/>
          <a:p>
            <a:pPr marL="201168" lvl="1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The main problem we are trying to solve with the Superstore dataset is:</a:t>
            </a:r>
          </a:p>
          <a:p>
            <a:pPr marL="201168" lvl="1" indent="0" algn="just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0B050"/>
                </a:solidFill>
              </a:rPr>
              <a:t>“How can the retail Superstore improve its sales performance, profitability, and operational efficiency by analyzing transaction, customer, product, shipping, and discount data?”</a:t>
            </a:r>
          </a:p>
          <a:p>
            <a:pPr marL="201168" lvl="1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In other words, the dataset is being used to: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Identify revenue and profit drivers – which products, categories, regions, and customers generate the most sales and profit.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Detect inefficiencies – loss-making products, unprofitable discounts, or slow shipping methods.</a:t>
            </a: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1FFE2DC0-0400-A733-C567-24662B915A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97" r="61370" b="-2"/>
          <a:stretch>
            <a:fillRect/>
          </a:stretch>
        </p:blipFill>
        <p:spPr>
          <a:xfrm>
            <a:off x="0" y="0"/>
            <a:ext cx="301663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48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sets - DataForImpactProject">
            <a:extLst>
              <a:ext uri="{FF2B5EF4-FFF2-40B4-BE49-F238E27FC236}">
                <a16:creationId xmlns:a16="http://schemas.microsoft.com/office/drawing/2014/main" id="{9B4C1DEF-58BE-5707-1198-E74040AFA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89" y="1670927"/>
            <a:ext cx="1597443" cy="160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AC3CBA1-F331-4AD4-9B26-0296A313D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762" y="1727431"/>
            <a:ext cx="1485554" cy="148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SIS Logo - LogoDix">
            <a:extLst>
              <a:ext uri="{FF2B5EF4-FFF2-40B4-BE49-F238E27FC236}">
                <a16:creationId xmlns:a16="http://schemas.microsoft.com/office/drawing/2014/main" id="{FA0B0009-208D-35F8-5E70-6D3A32A00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973" y="1670927"/>
            <a:ext cx="1978551" cy="160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6E07D5-9D2E-7E53-D95F-0E91AA8F8925}"/>
              </a:ext>
            </a:extLst>
          </p:cNvPr>
          <p:cNvSpPr txBox="1"/>
          <p:nvPr/>
        </p:nvSpPr>
        <p:spPr>
          <a:xfrm>
            <a:off x="6155973" y="3745130"/>
            <a:ext cx="1978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SSIS - ETL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8CE63-6960-6931-1D8C-8FA99027CB94}"/>
              </a:ext>
            </a:extLst>
          </p:cNvPr>
          <p:cNvSpPr txBox="1"/>
          <p:nvPr/>
        </p:nvSpPr>
        <p:spPr>
          <a:xfrm>
            <a:off x="3118326" y="3637406"/>
            <a:ext cx="19785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Python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A55B7-EF98-815A-2875-CC33C299B6EC}"/>
              </a:ext>
            </a:extLst>
          </p:cNvPr>
          <p:cNvSpPr txBox="1"/>
          <p:nvPr/>
        </p:nvSpPr>
        <p:spPr>
          <a:xfrm>
            <a:off x="461788" y="3783005"/>
            <a:ext cx="1597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182FF-8D69-A835-CC5E-E627D881A531}"/>
              </a:ext>
            </a:extLst>
          </p:cNvPr>
          <p:cNvSpPr txBox="1"/>
          <p:nvPr/>
        </p:nvSpPr>
        <p:spPr>
          <a:xfrm>
            <a:off x="9360310" y="3637407"/>
            <a:ext cx="23699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Data Warehouse</a:t>
            </a:r>
          </a:p>
        </p:txBody>
      </p:sp>
      <p:pic>
        <p:nvPicPr>
          <p:cNvPr id="1042" name="Picture 18" descr="Data warehouse Generic Rounded Shapes icon | Freepik">
            <a:extLst>
              <a:ext uri="{FF2B5EF4-FFF2-40B4-BE49-F238E27FC236}">
                <a16:creationId xmlns:a16="http://schemas.microsoft.com/office/drawing/2014/main" id="{0CC94F9F-2329-1ACF-4C49-3CF73D0C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1181" y="1667117"/>
            <a:ext cx="1873735" cy="187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35A14F-3153-C029-BF5D-CD8AC8E439F0}"/>
              </a:ext>
            </a:extLst>
          </p:cNvPr>
          <p:cNvSpPr/>
          <p:nvPr/>
        </p:nvSpPr>
        <p:spPr>
          <a:xfrm>
            <a:off x="223520" y="1422400"/>
            <a:ext cx="11744960" cy="3393440"/>
          </a:xfrm>
          <a:prstGeom prst="round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A82567-9B15-471A-7686-D2A24624CB8C}"/>
              </a:ext>
            </a:extLst>
          </p:cNvPr>
          <p:cNvSpPr txBox="1"/>
          <p:nvPr/>
        </p:nvSpPr>
        <p:spPr>
          <a:xfrm>
            <a:off x="4107601" y="790086"/>
            <a:ext cx="3936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Super Store Project</a:t>
            </a:r>
          </a:p>
        </p:txBody>
      </p:sp>
    </p:spTree>
    <p:extLst>
      <p:ext uri="{BB962C8B-B14F-4D97-AF65-F5344CB8AC3E}">
        <p14:creationId xmlns:p14="http://schemas.microsoft.com/office/powerpoint/2010/main" val="237071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40508-A089-7D4F-97DD-C7D5EDBA3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40A15-A4B9-D7FC-B974-BCB0ACEB29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2) Data Cleaning Process</a:t>
            </a:r>
          </a:p>
        </p:txBody>
      </p:sp>
    </p:spTree>
    <p:extLst>
      <p:ext uri="{BB962C8B-B14F-4D97-AF65-F5344CB8AC3E}">
        <p14:creationId xmlns:p14="http://schemas.microsoft.com/office/powerpoint/2010/main" val="3565391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195607-BF2E-A084-40DC-1DFC24FBF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7F6F2-831A-49CC-F85B-0D62FFD9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096" y="286603"/>
            <a:ext cx="6575583" cy="14507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Step 1: Load and Inspect the Data</a:t>
            </a: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CA68B2A3-ADCB-5C72-909E-6956CEF735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9" r="54232" b="-1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AC24BFD-7738-9290-117A-D58A950D342E}"/>
              </a:ext>
            </a:extLst>
          </p:cNvPr>
          <p:cNvSpPr txBox="1">
            <a:spLocks/>
          </p:cNvSpPr>
          <p:nvPr/>
        </p:nvSpPr>
        <p:spPr>
          <a:xfrm>
            <a:off x="4778476" y="1936955"/>
            <a:ext cx="7413523" cy="46344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What it does:</a:t>
            </a:r>
            <a:endParaRPr lang="en-US" sz="2400" dirty="0"/>
          </a:p>
          <a:p>
            <a:pPr lvl="1"/>
            <a:r>
              <a:rPr lang="en-US" sz="2000" dirty="0"/>
              <a:t>Load the dataset and review the number of rows and columns.</a:t>
            </a:r>
          </a:p>
          <a:p>
            <a:pPr lvl="1"/>
            <a:r>
              <a:rPr lang="en-US" sz="2000" dirty="0"/>
              <a:t>Understand the types of data (text, numbers, dates).</a:t>
            </a:r>
          </a:p>
          <a:p>
            <a:r>
              <a:rPr lang="en-US" sz="2400" b="1" dirty="0"/>
              <a:t>Why it’s important:</a:t>
            </a:r>
            <a:endParaRPr lang="en-US" sz="2400" dirty="0"/>
          </a:p>
          <a:p>
            <a:pPr lvl="1"/>
            <a:r>
              <a:rPr lang="en-US" sz="2000" dirty="0"/>
              <a:t>Helps identify potential issues early, such as wrong data types or unexpected columns.</a:t>
            </a:r>
          </a:p>
        </p:txBody>
      </p:sp>
    </p:spTree>
    <p:extLst>
      <p:ext uri="{BB962C8B-B14F-4D97-AF65-F5344CB8AC3E}">
        <p14:creationId xmlns:p14="http://schemas.microsoft.com/office/powerpoint/2010/main" val="4133935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8E5702-3B11-970A-32CB-C1E08FE5A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284E-CA82-14CC-0D12-B9554BC80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096" y="286603"/>
            <a:ext cx="6575583" cy="14507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Step 2: Check for Missing Values</a:t>
            </a: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C3FAD128-E50D-E0E2-A0AB-8B87E695C1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9" r="54232" b="-1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9557D92-E6F1-BE1D-984B-3B9071050E16}"/>
              </a:ext>
            </a:extLst>
          </p:cNvPr>
          <p:cNvSpPr txBox="1">
            <a:spLocks/>
          </p:cNvSpPr>
          <p:nvPr/>
        </p:nvSpPr>
        <p:spPr>
          <a:xfrm>
            <a:off x="4778476" y="1936955"/>
            <a:ext cx="7413523" cy="46344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What it does:</a:t>
            </a:r>
            <a:endParaRPr lang="en-US" sz="2400" dirty="0"/>
          </a:p>
          <a:p>
            <a:pPr lvl="1"/>
            <a:r>
              <a:rPr lang="en-US" sz="2000" dirty="0"/>
              <a:t>Identify any missing or null values in the dataset.</a:t>
            </a:r>
          </a:p>
          <a:p>
            <a:pPr lvl="1"/>
            <a:r>
              <a:rPr lang="en-US" sz="2000" dirty="0"/>
              <a:t>Decide whether to fill them with a default value or remove the affected rows.</a:t>
            </a:r>
          </a:p>
          <a:p>
            <a:r>
              <a:rPr lang="en-US" sz="2400" b="1" dirty="0"/>
              <a:t>Why it’s important:</a:t>
            </a:r>
            <a:endParaRPr lang="en-US" sz="2400" dirty="0"/>
          </a:p>
          <a:p>
            <a:pPr lvl="1"/>
            <a:r>
              <a:rPr lang="en-US" sz="2000" dirty="0"/>
              <a:t>Missing values can lead to inaccurate analysis and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1857923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638EC-A1E2-EF78-791F-53F349D30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A296-3B0E-1DD5-D069-93A59D2A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096" y="286603"/>
            <a:ext cx="6575583" cy="14507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Step 3: Remove Duplicate Records</a:t>
            </a: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D3B6E0DC-5478-4E9F-76DB-266BAD07D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9" r="54232" b="-1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933FAEF-FD4D-F8BF-7508-23E762944041}"/>
              </a:ext>
            </a:extLst>
          </p:cNvPr>
          <p:cNvSpPr txBox="1">
            <a:spLocks/>
          </p:cNvSpPr>
          <p:nvPr/>
        </p:nvSpPr>
        <p:spPr>
          <a:xfrm>
            <a:off x="4778476" y="1936955"/>
            <a:ext cx="7413523" cy="46344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What it does:</a:t>
            </a:r>
            <a:endParaRPr lang="en-US" sz="2400" dirty="0"/>
          </a:p>
          <a:p>
            <a:pPr lvl="1"/>
            <a:r>
              <a:rPr lang="en-US" sz="2000" dirty="0"/>
              <a:t>Detect rows that are repeated in the dataset.</a:t>
            </a:r>
          </a:p>
          <a:p>
            <a:pPr lvl="1"/>
            <a:r>
              <a:rPr lang="en-US" sz="2000" dirty="0"/>
              <a:t>Remove duplicate entries to ensure each transaction is counted only once.</a:t>
            </a:r>
          </a:p>
          <a:p>
            <a:r>
              <a:rPr lang="en-US" sz="2400" b="1" dirty="0"/>
              <a:t>Why it’s important:</a:t>
            </a:r>
            <a:endParaRPr lang="en-US" sz="2400" dirty="0"/>
          </a:p>
          <a:p>
            <a:pPr lvl="1"/>
            <a:r>
              <a:rPr lang="en-US" sz="2000" dirty="0"/>
              <a:t>Prevents overstating sales, profits, or customer counts.</a:t>
            </a:r>
          </a:p>
        </p:txBody>
      </p:sp>
    </p:spTree>
    <p:extLst>
      <p:ext uri="{BB962C8B-B14F-4D97-AF65-F5344CB8AC3E}">
        <p14:creationId xmlns:p14="http://schemas.microsoft.com/office/powerpoint/2010/main" val="3514975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E309B-6835-AEB9-C4A8-B0E6802C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7979-FC97-5F29-2E9F-350EDE797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096" y="286603"/>
            <a:ext cx="6575583" cy="14507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Step 4: Correct Inconsistent Values</a:t>
            </a: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F58F367F-B331-76D2-C53F-A03FBEE7FC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9" r="54232" b="-1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8949190-D1B3-6E81-2090-ACE5FDE1CB45}"/>
              </a:ext>
            </a:extLst>
          </p:cNvPr>
          <p:cNvSpPr txBox="1">
            <a:spLocks/>
          </p:cNvSpPr>
          <p:nvPr/>
        </p:nvSpPr>
        <p:spPr>
          <a:xfrm>
            <a:off x="4778476" y="1936955"/>
            <a:ext cx="7413523" cy="46344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What it does:</a:t>
            </a:r>
            <a:endParaRPr lang="en-US" sz="2400" dirty="0"/>
          </a:p>
          <a:p>
            <a:pPr lvl="1"/>
            <a:r>
              <a:rPr lang="en-US" sz="2000" dirty="0"/>
              <a:t>Check for typos or variations in categorical fields (e.g., states, product names, regions).</a:t>
            </a:r>
          </a:p>
          <a:p>
            <a:pPr lvl="1"/>
            <a:r>
              <a:rPr lang="en-US" sz="2000" dirty="0"/>
              <a:t>Standardize values to ensure consistency.</a:t>
            </a:r>
          </a:p>
          <a:p>
            <a:r>
              <a:rPr lang="en-US" sz="2400" b="1" dirty="0"/>
              <a:t>Why it’s important:</a:t>
            </a:r>
            <a:endParaRPr lang="en-US" sz="2400" dirty="0"/>
          </a:p>
          <a:p>
            <a:pPr lvl="1"/>
            <a:r>
              <a:rPr lang="en-US" sz="2000" dirty="0"/>
              <a:t>Consistent values are crucial for accurate grouping, filtering,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9701746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79907-DBE2-442B-7902-51F420D5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28E3-E062-5E10-56A9-7DDBDAFA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096" y="286603"/>
            <a:ext cx="6575583" cy="1450757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Step 5: Save Cleaned Data</a:t>
            </a: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BD1CED08-4497-BC45-3802-9ACAF1CF3C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9" r="54232" b="-1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C31F661-9898-C287-02F7-5DE87F26BE32}"/>
              </a:ext>
            </a:extLst>
          </p:cNvPr>
          <p:cNvSpPr txBox="1">
            <a:spLocks/>
          </p:cNvSpPr>
          <p:nvPr/>
        </p:nvSpPr>
        <p:spPr>
          <a:xfrm>
            <a:off x="4778476" y="1936955"/>
            <a:ext cx="7413523" cy="46344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What it does:</a:t>
            </a:r>
            <a:endParaRPr lang="en-US" sz="2400" dirty="0"/>
          </a:p>
          <a:p>
            <a:pPr lvl="1"/>
            <a:r>
              <a:rPr lang="en-US" sz="2000" dirty="0"/>
              <a:t>Export the cleaned dataset to a new file for use in analysis or visualization tools.</a:t>
            </a:r>
          </a:p>
          <a:p>
            <a:r>
              <a:rPr lang="en-US" sz="2400" b="1" dirty="0"/>
              <a:t>Why it’s important:</a:t>
            </a:r>
            <a:endParaRPr lang="en-US" sz="2400" dirty="0"/>
          </a:p>
          <a:p>
            <a:pPr lvl="1"/>
            <a:r>
              <a:rPr lang="en-US" sz="2000" dirty="0"/>
              <a:t>Provides a </a:t>
            </a:r>
            <a:r>
              <a:rPr lang="en-US" sz="2000" b="1" dirty="0"/>
              <a:t>ready-to-use, reliable dataset</a:t>
            </a:r>
            <a:r>
              <a:rPr lang="en-US" sz="2000" dirty="0"/>
              <a:t> for dashboards and reports without errors.</a:t>
            </a:r>
          </a:p>
        </p:txBody>
      </p:sp>
    </p:spTree>
    <p:extLst>
      <p:ext uri="{BB962C8B-B14F-4D97-AF65-F5344CB8AC3E}">
        <p14:creationId xmlns:p14="http://schemas.microsoft.com/office/powerpoint/2010/main" val="2486003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319FCA-2F56-4BF2-3354-990C5DF7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3B06-4106-2416-21D7-4DE680E2FE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3) Dashboard-Based Scenarios</a:t>
            </a:r>
          </a:p>
        </p:txBody>
      </p:sp>
    </p:spTree>
    <p:extLst>
      <p:ext uri="{BB962C8B-B14F-4D97-AF65-F5344CB8AC3E}">
        <p14:creationId xmlns:p14="http://schemas.microsoft.com/office/powerpoint/2010/main" val="371182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66BB5-1F56-B6F3-3E2E-A23B9FE82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697D-7776-BF5F-DAAC-06A7BC6AA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096" y="286603"/>
            <a:ext cx="6575583" cy="145075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1) Executive Summary</a:t>
            </a:r>
            <a:r>
              <a:rPr lang="en-US" sz="4000" dirty="0"/>
              <a:t>: The Big Picture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1A88A027-8076-C6C3-3934-79E5FD6369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9" r="54232" b="-1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FBEA7F0-53A3-666C-38B6-C25F19DC9EB4}"/>
              </a:ext>
            </a:extLst>
          </p:cNvPr>
          <p:cNvSpPr txBox="1">
            <a:spLocks/>
          </p:cNvSpPr>
          <p:nvPr/>
        </p:nvSpPr>
        <p:spPr>
          <a:xfrm>
            <a:off x="4778476" y="1936955"/>
            <a:ext cx="7413523" cy="46344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00B050"/>
                </a:solidFill>
              </a:rPr>
              <a:t>"What is our overall business story?"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The Executive Summary Dashboard consolidates sales, profit, discounts, and customer insights in one place. </a:t>
            </a:r>
          </a:p>
          <a:p>
            <a:r>
              <a:rPr lang="en-US" b="1" dirty="0">
                <a:solidFill>
                  <a:srgbClr val="0070C0"/>
                </a:solidFill>
              </a:rPr>
              <a:t>Storytelling focus: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sz="1800" dirty="0"/>
              <a:t>Showcase overall KPIs: total sales, profit, discounts</a:t>
            </a:r>
          </a:p>
          <a:p>
            <a:pPr lvl="1"/>
            <a:r>
              <a:rPr lang="en-US" sz="1800" dirty="0"/>
              <a:t>Compare performance across regions and categories</a:t>
            </a:r>
          </a:p>
          <a:p>
            <a:pPr lvl="1"/>
            <a:r>
              <a:rPr lang="en-US" sz="1800" dirty="0"/>
              <a:t>Highlight trends and opportunities for strategic decisions</a:t>
            </a:r>
          </a:p>
        </p:txBody>
      </p:sp>
    </p:spTree>
    <p:extLst>
      <p:ext uri="{BB962C8B-B14F-4D97-AF65-F5344CB8AC3E}">
        <p14:creationId xmlns:p14="http://schemas.microsoft.com/office/powerpoint/2010/main" val="1823002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B99B8-E891-0D56-84E2-C3F6C33B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608E-9383-A7A2-2832-0B889A32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096" y="286603"/>
            <a:ext cx="6575583" cy="145075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2) Sales</a:t>
            </a:r>
            <a:r>
              <a:rPr lang="en-US" sz="4000" dirty="0"/>
              <a:t>: Understanding Revenue Flow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C3CEEB8B-2D6C-786D-FFE7-09A9B208AE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9" r="54232" b="-1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CB306A6-D68E-12D8-CE7F-876F5E76E1B0}"/>
              </a:ext>
            </a:extLst>
          </p:cNvPr>
          <p:cNvSpPr txBox="1">
            <a:spLocks/>
          </p:cNvSpPr>
          <p:nvPr/>
        </p:nvSpPr>
        <p:spPr>
          <a:xfrm>
            <a:off x="4778476" y="1936955"/>
            <a:ext cx="7413523" cy="46344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00B050"/>
                </a:solidFill>
              </a:rPr>
              <a:t>"Where is our money coming from?"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The Sales Dashboard shows us which regions, cities, and product categories are driving revenue</a:t>
            </a:r>
          </a:p>
          <a:p>
            <a:r>
              <a:rPr lang="en-US" b="1" dirty="0">
                <a:solidFill>
                  <a:srgbClr val="0070C0"/>
                </a:solidFill>
              </a:rPr>
              <a:t>Storytelling focus: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sz="1800" dirty="0"/>
              <a:t>Highlight the most profitable regions and categories</a:t>
            </a:r>
          </a:p>
          <a:p>
            <a:pPr lvl="1"/>
            <a:r>
              <a:rPr lang="en-US" sz="1800" dirty="0"/>
              <a:t>Show seasonality or monthly trends in revenue</a:t>
            </a:r>
          </a:p>
          <a:p>
            <a:pPr lvl="1"/>
            <a:r>
              <a:rPr lang="en-US" sz="1800" dirty="0"/>
              <a:t>Explain what drives revenue growth</a:t>
            </a:r>
          </a:p>
        </p:txBody>
      </p:sp>
    </p:spTree>
    <p:extLst>
      <p:ext uri="{BB962C8B-B14F-4D97-AF65-F5344CB8AC3E}">
        <p14:creationId xmlns:p14="http://schemas.microsoft.com/office/powerpoint/2010/main" val="1984260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7CE1B-DEA5-EA55-916C-FDE69FE7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19ED3-49DB-5652-A98A-799AC131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096" y="286603"/>
            <a:ext cx="6575583" cy="145075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3) Profitability</a:t>
            </a:r>
            <a:r>
              <a:rPr lang="en-US" sz="4000" dirty="0"/>
              <a:t>: Measuring Business Health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CE88B62E-6724-82FF-5C2D-1AD11C787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9" r="54232" b="-1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D01E603-34F0-F090-7A80-0E04BEF36FF4}"/>
              </a:ext>
            </a:extLst>
          </p:cNvPr>
          <p:cNvSpPr txBox="1">
            <a:spLocks/>
          </p:cNvSpPr>
          <p:nvPr/>
        </p:nvSpPr>
        <p:spPr>
          <a:xfrm>
            <a:off x="4778476" y="1936955"/>
            <a:ext cx="7413523" cy="46344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00B050"/>
                </a:solidFill>
              </a:rPr>
              <a:t>"Are we making money?"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This dashboard reveals which products, segments, and regions generate real profit. </a:t>
            </a:r>
          </a:p>
          <a:p>
            <a:r>
              <a:rPr lang="en-US" b="1" dirty="0">
                <a:solidFill>
                  <a:srgbClr val="0070C0"/>
                </a:solidFill>
              </a:rPr>
              <a:t>Storytelling focus: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sz="1800" dirty="0"/>
              <a:t>Visualize profit vs. sales for categories and regions</a:t>
            </a:r>
          </a:p>
          <a:p>
            <a:pPr lvl="1"/>
            <a:r>
              <a:rPr lang="en-US" sz="1800" dirty="0"/>
              <a:t>Identify loss-making areas for corrective actions</a:t>
            </a:r>
          </a:p>
          <a:p>
            <a:pPr lvl="1"/>
            <a:r>
              <a:rPr lang="en-US" sz="1800" dirty="0"/>
              <a:t>Understand the effect of discounts on profitability</a:t>
            </a:r>
          </a:p>
        </p:txBody>
      </p:sp>
    </p:spTree>
    <p:extLst>
      <p:ext uri="{BB962C8B-B14F-4D97-AF65-F5344CB8AC3E}">
        <p14:creationId xmlns:p14="http://schemas.microsoft.com/office/powerpoint/2010/main" val="1003321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3D13B-F0F8-3EAC-FDD8-55A6037D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571A-6835-C174-6696-6AD8467E0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096" y="286603"/>
            <a:ext cx="6575583" cy="145075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4) Discount</a:t>
            </a:r>
            <a:r>
              <a:rPr lang="en-US" sz="4000" dirty="0"/>
              <a:t>: Balancing Sales &amp; Margins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102FD868-6CF5-3CBD-6DC6-20C0F45637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9" r="54232" b="-1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87B1497-8139-7305-198C-FD3D78D4CA7C}"/>
              </a:ext>
            </a:extLst>
          </p:cNvPr>
          <p:cNvSpPr txBox="1">
            <a:spLocks/>
          </p:cNvSpPr>
          <p:nvPr/>
        </p:nvSpPr>
        <p:spPr>
          <a:xfrm>
            <a:off x="4778476" y="1936955"/>
            <a:ext cx="7413523" cy="46344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00B050"/>
                </a:solidFill>
              </a:rPr>
              <a:t>"Do discounts help or hurt us?"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This dashboard tracks the impact of discounts on sales and profit. </a:t>
            </a:r>
          </a:p>
          <a:p>
            <a:r>
              <a:rPr lang="en-US" b="1" dirty="0">
                <a:solidFill>
                  <a:srgbClr val="0070C0"/>
                </a:solidFill>
              </a:rPr>
              <a:t>Storytelling focus: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sz="1800" dirty="0"/>
              <a:t>Highlight high-discount, low-profit transactions</a:t>
            </a:r>
          </a:p>
          <a:p>
            <a:pPr lvl="1"/>
            <a:r>
              <a:rPr lang="en-US" sz="1800" dirty="0"/>
              <a:t>Analyze discount impact by product category and region</a:t>
            </a:r>
          </a:p>
          <a:p>
            <a:pPr lvl="1"/>
            <a:r>
              <a:rPr lang="en-US" sz="1800" dirty="0"/>
              <a:t>Recommend optimal discount strategies</a:t>
            </a:r>
          </a:p>
        </p:txBody>
      </p:sp>
    </p:spTree>
    <p:extLst>
      <p:ext uri="{BB962C8B-B14F-4D97-AF65-F5344CB8AC3E}">
        <p14:creationId xmlns:p14="http://schemas.microsoft.com/office/powerpoint/2010/main" val="38325499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512FF-7DBD-E3E6-37DB-B2560BCD8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9D71-7106-0ACB-D7E0-713D8A618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096" y="286603"/>
            <a:ext cx="6575583" cy="145075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5) Shipping</a:t>
            </a:r>
            <a:r>
              <a:rPr lang="en-US" sz="4000" dirty="0"/>
              <a:t>: Optimizing Delivery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AC31F80F-C64E-60B5-8C52-13EB5CE853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9" r="54232" b="-1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A85A10C-BA19-A615-9961-100C359EDD6A}"/>
              </a:ext>
            </a:extLst>
          </p:cNvPr>
          <p:cNvSpPr txBox="1">
            <a:spLocks/>
          </p:cNvSpPr>
          <p:nvPr/>
        </p:nvSpPr>
        <p:spPr>
          <a:xfrm>
            <a:off x="4778476" y="1936955"/>
            <a:ext cx="7413523" cy="46344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00B050"/>
                </a:solidFill>
              </a:rPr>
              <a:t>"Who are our most valuable customers?"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The Customer Dashboard identifies top customers and their purchasing behavior. </a:t>
            </a:r>
          </a:p>
          <a:p>
            <a:r>
              <a:rPr lang="en-US" b="1" dirty="0">
                <a:solidFill>
                  <a:srgbClr val="0070C0"/>
                </a:solidFill>
              </a:rPr>
              <a:t>Storytelling focus: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sz="1800" dirty="0"/>
              <a:t>Segment customers by value and frequency</a:t>
            </a:r>
          </a:p>
          <a:p>
            <a:pPr lvl="1"/>
            <a:r>
              <a:rPr lang="en-US" sz="1800" dirty="0"/>
              <a:t>Highlight top customers and regions</a:t>
            </a:r>
          </a:p>
          <a:p>
            <a:pPr lvl="1"/>
            <a:r>
              <a:rPr lang="en-US" sz="1800" dirty="0"/>
              <a:t>Suggest marketing or retention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1835914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0907E-6F14-479A-45BE-EF10D3B07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E67D-F280-7EE3-436E-3E8409DC7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096" y="286603"/>
            <a:ext cx="6575583" cy="145075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6) Customer</a:t>
            </a:r>
            <a:r>
              <a:rPr lang="en-US" sz="4000" dirty="0"/>
              <a:t>: Who Drives Our Business?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0E341B41-F9E2-7DE9-67B8-0744D708EA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9" r="54232" b="-1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45A0716-F2DE-7EC5-85DE-B5EC46C4427F}"/>
              </a:ext>
            </a:extLst>
          </p:cNvPr>
          <p:cNvSpPr txBox="1">
            <a:spLocks/>
          </p:cNvSpPr>
          <p:nvPr/>
        </p:nvSpPr>
        <p:spPr>
          <a:xfrm>
            <a:off x="4778476" y="1936955"/>
            <a:ext cx="7413523" cy="46344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00B050"/>
                </a:solidFill>
              </a:rPr>
              <a:t>"Who are our most valuable customers?"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The Customer Dashboard identifies top customers and their purchasing behavior. Corporate clients in California.</a:t>
            </a:r>
          </a:p>
          <a:p>
            <a:r>
              <a:rPr lang="en-US" b="1" dirty="0">
                <a:solidFill>
                  <a:srgbClr val="0070C0"/>
                </a:solidFill>
              </a:rPr>
              <a:t>Storytelling focus: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sz="1800" dirty="0"/>
              <a:t>Segment customers by value and frequency</a:t>
            </a:r>
          </a:p>
          <a:p>
            <a:pPr lvl="1"/>
            <a:r>
              <a:rPr lang="en-US" sz="1800" dirty="0"/>
              <a:t>Highlight top customers and regions</a:t>
            </a:r>
          </a:p>
          <a:p>
            <a:pPr lvl="1"/>
            <a:r>
              <a:rPr lang="en-US" sz="1800" dirty="0"/>
              <a:t>Suggest marketing or retention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5622022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D4792-0ABE-3E0E-4ED4-59AAA15D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D0E7-995D-1482-2968-A333F50374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4) Recommendations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2890972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8BDBE5C-BBE9-4E89-BEE5-DEB6EAB87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FC4168B-AA75-4715-9B96-CF84B170A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5874040-448D-0E27-062B-25EC300BE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3" name="TextBox 9">
            <a:extLst>
              <a:ext uri="{FF2B5EF4-FFF2-40B4-BE49-F238E27FC236}">
                <a16:creationId xmlns:a16="http://schemas.microsoft.com/office/drawing/2014/main" id="{56E17CA3-8C93-9DD2-B359-36B2FCC88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8883082"/>
              </p:ext>
            </p:extLst>
          </p:nvPr>
        </p:nvGraphicFramePr>
        <p:xfrm>
          <a:off x="4976031" y="634947"/>
          <a:ext cx="6582555" cy="5121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 descr="Apple with measuring tape">
            <a:extLst>
              <a:ext uri="{FF2B5EF4-FFF2-40B4-BE49-F238E27FC236}">
                <a16:creationId xmlns:a16="http://schemas.microsoft.com/office/drawing/2014/main" id="{9523AC02-BF79-C141-21D4-A87C6C6D3CB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89" r="54232" b="-1"/>
          <a:stretch>
            <a:fillRect/>
          </a:stretch>
        </p:blipFill>
        <p:spPr>
          <a:xfrm>
            <a:off x="20" y="10"/>
            <a:ext cx="4577915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A819E4-9446-5AFC-6BD7-D1273C14A743}"/>
              </a:ext>
            </a:extLst>
          </p:cNvPr>
          <p:cNvSpPr txBox="1"/>
          <p:nvPr/>
        </p:nvSpPr>
        <p:spPr>
          <a:xfrm>
            <a:off x="5968179" y="851349"/>
            <a:ext cx="5590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Build a data warehouse to enable faster, reliable, and historical reporting.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44B3F-917F-4573-4D8B-9547CD153552}"/>
              </a:ext>
            </a:extLst>
          </p:cNvPr>
          <p:cNvSpPr txBox="1"/>
          <p:nvPr/>
        </p:nvSpPr>
        <p:spPr>
          <a:xfrm>
            <a:off x="5968178" y="2204000"/>
            <a:ext cx="5590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Perform customer segmentation and lifetime value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4B246-D029-9852-9459-EEB8C0D9D87C}"/>
              </a:ext>
            </a:extLst>
          </p:cNvPr>
          <p:cNvSpPr txBox="1"/>
          <p:nvPr/>
        </p:nvSpPr>
        <p:spPr>
          <a:xfrm>
            <a:off x="5968178" y="3534528"/>
            <a:ext cx="5590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Analyze product performance and inventory to optimize pricing.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39B83-98FE-3A37-72B2-DE7953B89039}"/>
              </a:ext>
            </a:extLst>
          </p:cNvPr>
          <p:cNvSpPr txBox="1"/>
          <p:nvPr/>
        </p:nvSpPr>
        <p:spPr>
          <a:xfrm>
            <a:off x="5968178" y="4898801"/>
            <a:ext cx="5590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Track shipping efficiency and logistics costs to enhance supply chain.</a:t>
            </a:r>
          </a:p>
        </p:txBody>
      </p:sp>
    </p:spTree>
    <p:extLst>
      <p:ext uri="{BB962C8B-B14F-4D97-AF65-F5344CB8AC3E}">
        <p14:creationId xmlns:p14="http://schemas.microsoft.com/office/powerpoint/2010/main" val="2272997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58E0AA-B4E3-B408-5810-223508CCDB5C}"/>
              </a:ext>
            </a:extLst>
          </p:cNvPr>
          <p:cNvSpPr txBox="1"/>
          <p:nvPr/>
        </p:nvSpPr>
        <p:spPr>
          <a:xfrm>
            <a:off x="965201" y="643467"/>
            <a:ext cx="6255026" cy="5054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spc="-5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4C8D3-B9AD-4F4F-8554-4EAF3724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972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Sagona Extra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gona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815</Words>
  <Application>Microsoft Office PowerPoint</Application>
  <PresentationFormat>Widescreen</PresentationFormat>
  <Paragraphs>109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Sagona Book</vt:lpstr>
      <vt:lpstr>Sagona ExtraLight</vt:lpstr>
      <vt:lpstr>Times New Roman</vt:lpstr>
      <vt:lpstr>Wingdings</vt:lpstr>
      <vt:lpstr>RetrospectVTI</vt:lpstr>
      <vt:lpstr>Super Store Analysis</vt:lpstr>
      <vt:lpstr>Agenda</vt:lpstr>
      <vt:lpstr>1) Introduction</vt:lpstr>
      <vt:lpstr>1) Introduction</vt:lpstr>
      <vt:lpstr>PowerPoint Presentation</vt:lpstr>
      <vt:lpstr>2) Data Cleaning Process</vt:lpstr>
      <vt:lpstr>Step 1: Load and Inspect the Data</vt:lpstr>
      <vt:lpstr>Step 2: Check for Missing Values</vt:lpstr>
      <vt:lpstr>Step 3: Remove Duplicate Records</vt:lpstr>
      <vt:lpstr>Step 4: Correct Inconsistent Values</vt:lpstr>
      <vt:lpstr>Step 5: Save Cleaned Data</vt:lpstr>
      <vt:lpstr>3) Dashboard-Based Scenarios</vt:lpstr>
      <vt:lpstr>1) Executive Summary: The Big Picture</vt:lpstr>
      <vt:lpstr>2) Sales: Understanding Revenue Flow</vt:lpstr>
      <vt:lpstr>3) Profitability: Measuring Business Health</vt:lpstr>
      <vt:lpstr>4) Discount: Balancing Sales &amp; Margins</vt:lpstr>
      <vt:lpstr>5) Shipping: Optimizing Delivery</vt:lpstr>
      <vt:lpstr>6) Customer: Who Drives Our Business?</vt:lpstr>
      <vt:lpstr>4) Recommendations &amp; Next Steps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Ezz Eldin Mahmoud Mahamed</dc:creator>
  <cp:lastModifiedBy>Ezz Eldin Mahmoud Mahamed</cp:lastModifiedBy>
  <cp:revision>6</cp:revision>
  <dcterms:created xsi:type="dcterms:W3CDTF">2025-07-24T13:37:25Z</dcterms:created>
  <dcterms:modified xsi:type="dcterms:W3CDTF">2025-12-09T22:49:17Z</dcterms:modified>
</cp:coreProperties>
</file>